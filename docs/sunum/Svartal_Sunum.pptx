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· Problem  — Eren  · 35 sn</a:t>
            </a:r>
          </a:p>
          <a:p/>
          <a:p>
            <a:r>
              <a:t>Katılım bankacılığında standart API yok. Üstelik aynı bilgi bankadan bankaya</a:t>
            </a:r>
          </a:p>
          <a:p>
            <a:r>
              <a:t>başka türlü yazılıyor: şartnamenin kendi örneğinde **ilkinde sayı var, diğer</a:t>
            </a:r>
          </a:p>
          <a:p>
            <a:r>
              <a:t>üçünde yok.** Sayı uyduran bir sistem son üçünde yanlış oran üretir.</a:t>
            </a:r>
          </a:p>
          <a:p/>
          <a:p>
            <a:r>
              <a:t>Sağdaki tabloyu göster:</a:t>
            </a:r>
          </a:p>
          <a:p/>
          <a:p>
            <a:r>
              <a:t>Bir de şu tuzak var: en düşük oran en ucuz ürün demek değil. Manşette iyi</a:t>
            </a:r>
          </a:p>
          <a:p>
            <a:r>
              <a:t>görünen teklif toplamda **4.204 TL daha pahalı.** Bu yüzden sıralamayı orana</a:t>
            </a:r>
          </a:p>
          <a:p>
            <a:r>
              <a:t>göre değil, toplam maliyet fonksiyonuna göre yapıyoruz.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· Kapsam  — Görkem  · 30 sn</a:t>
            </a:r>
          </a:p>
          <a:p/>
          <a:p>
            <a:r>
              <a:t>Dokuz faal katılım bankasının tamamı, 921 kampanya, 1.755 geçen test, sıfır</a:t>
            </a:r>
          </a:p>
          <a:p>
            <a:r>
              <a:t>ticari dış servis bağımlılığı. Her kayıt **16 alanlı bir kanıt zinciri** taşır:</a:t>
            </a:r>
          </a:p>
          <a:p>
            <a:r>
              <a:t>kaynak URL, dayandığı cümle, güven skoru ve hangi katmandan çıktığı.</a:t>
            </a:r>
          </a:p>
          <a:p/>
          <a:p>
            <a:r>
              <a:t>Dengesizliği kendin söyle, jüri sormadan:</a:t>
            </a:r>
          </a:p>
          <a:p/>
          <a:p>
            <a:r>
              <a:t>Dağılım dengesiz — en geniş kapsam en darın **11,1 katı.** Ölçtük ve raporladık.</a:t>
            </a:r>
          </a:p>
          <a:p>
            <a:r>
              <a:t>Sıralamayı bozmuyor, çünkü motor tekil ürünleri karşılaştırıyor, banka</a:t>
            </a:r>
          </a:p>
          <a:p>
            <a:r>
              <a:t>ortalaması almıyor.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· Mimari  — Eren  · 40 sn</a:t>
            </a:r>
          </a:p>
          <a:p/>
          <a:p>
            <a:r>
              <a:t>Diyagramı **soldan sağa** anlat, kutuları okuma:</a:t>
            </a:r>
          </a:p>
          <a:p/>
          <a:p>
            <a:r>
              <a:t>Toplama Selenium ile; robots kapısı ve iki saniyelik nezaket kuralı burada.</a:t>
            </a:r>
          </a:p>
          <a:p>
            <a:r>
              <a:t>Türkçe normalizasyondan geçer. Sonra aynı metni **iki katman ayrı ayrı okur**:</a:t>
            </a:r>
          </a:p>
          <a:p>
            <a:r>
              <a:t>kural katmanı ve dil modeli. Uzlaştırıcı çelişkide karar verir.</a:t>
            </a:r>
          </a:p>
          <a:p>
            <a:r>
              <a:t>Beş ajan çalışır ve **beşi de dil modeli kullanmaz.**</a:t>
            </a:r>
          </a:p>
          <a:p>
            <a:r>
              <a:t>Altta duran şerit kanıt zinciri: her değer geldiği cümleyi, adresi ve güvenini</a:t>
            </a:r>
          </a:p>
          <a:p>
            <a:r>
              <a:t>yanında taşır — baştan sona.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 · Karşılaştırma  — Samet  · 30 sn</a:t>
            </a:r>
          </a:p>
          <a:p/>
          <a:p>
            <a:r>
              <a:t>Kural motoru hiç uydurmuyor — halüsinasyon sıfır — ama az alan dolduruyor ve</a:t>
            </a:r>
          </a:p>
          <a:p>
            <a:r>
              <a:t>«bu bir konut kampanyası mı» sorusunu hiç cevaplayamıyor. Dil modeli çok alan</a:t>
            </a:r>
          </a:p>
          <a:p>
            <a:r>
              <a:t>dolduruyor ama isabeti düşük. **Üçüncü kolon ikisinin birleşimi.**</a:t>
            </a:r>
          </a:p>
          <a:p/>
          <a:p>
            <a:r>
              <a:t>Dürüstlük notunu atlama — jüri bunu sorar:</a:t>
            </a:r>
          </a:p>
          <a:p/>
          <a:p>
            <a:r>
              <a:t>Bu tablo yalnız **ölçtüğümüz** üç yapılandırmayı kıyaslıyor. Vektör-RAG taban</a:t>
            </a:r>
          </a:p>
          <a:p>
            <a:r>
              <a:t>çizgisi kurmadık; ölçmediğimiz bir sistemle kıyaslama yapmıyoruz.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· Ablasyon  — Samet  · 40 sn</a:t>
            </a:r>
          </a:p>
          <a:p/>
          <a:p>
            <a:r>
              <a:t>Beş yapılandırmayı aynı kodla, aynı korpusta, tek koşuda ölçtük.</a:t>
            </a:r>
          </a:p>
          <a:p>
            <a:r>
              <a:t>Kural tek başına sayıda iyi ama az alan doldurur. Model çok doldurur, isabeti</a:t>
            </a:r>
          </a:p>
          <a:p>
            <a:r>
              <a:t>düşük. **Birlikte 0,79**, yüklem ajanı eklenince **0,82**.</a:t>
            </a:r>
          </a:p>
          <a:p/>
          <a:p>
            <a:r>
              <a:t>Sonra son iki satırı işaret et — bu slaydın asıl noktası:</a:t>
            </a:r>
          </a:p>
          <a:p/>
          <a:p>
            <a:r>
              <a:t>Bu iki satırın makro-F1'i **aynı**. Eleştirmen ajanını kapattığımızda skor hiç</a:t>
            </a:r>
          </a:p>
          <a:p>
            <a:r>
              <a:t>değişmiyor, ama halüsinasyon %0,39'dan %0,51'e çıkıyor.</a:t>
            </a:r>
          </a:p>
          <a:p>
            <a:r>
              <a:t>**Eleştirmenin işi skoru yükseltmek değil, uydurmayı kesmek.**</a:t>
            </a:r>
          </a:p>
          <a:p/>
          <a:p>
            <a:r>
              <a:t>Sağdaki kutuyu atlama:</a:t>
            </a:r>
          </a:p>
          <a:p/>
          <a:p>
            <a:r>
              <a:t>Aralığı da söylüyoruz. 92 örnekle tek ondalık hane üzerinden övünmek</a:t>
            </a:r>
          </a:p>
          <a:p>
            <a:r>
              <a:t>yanlış bir kesinlik iddiasıdır.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· Asistan  — Esra  · 30 sn</a:t>
            </a:r>
          </a:p>
          <a:p/>
          <a:p>
            <a:r>
              <a:t>Sorulan soru: Kuveyt Türk'ün konut finansmanında kâr payı oranı ne?</a:t>
            </a:r>
          </a:p>
          <a:p>
            <a:r>
              <a:t>Sistem vadeyi, tahsis ücretini ve masrafı veriyor; kâr payı oranı için</a:t>
            </a:r>
          </a:p>
          <a:p>
            <a:r>
              <a:t>**“Belirtilmemiş”** diyor — çünkü o sayfada yayımlanmamış.</a:t>
            </a:r>
          </a:p>
          <a:p>
            <a:r>
              <a:t>**Uydurmuyor, ama bildiğini de saklamıyor.**</a:t>
            </a:r>
          </a:p>
          <a:p>
            <a:r>
              <a:t>Altta “0 LLM çağrısı” yazıyor: bu cevabı bir dil modeli üretmedi.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 · Sonuç  — Eren  · 25 sn</a:t>
            </a:r>
          </a:p>
          <a:p/>
          <a:p>
            <a:r>
              <a:t>Tabloyu okuma, sınırlara geç:</a:t>
            </a:r>
          </a:p>
          <a:p/>
          <a:p>
            <a:r>
              <a:t>Sınırları saklamıyoruz. Kâr payı doluluğu %17 — çoğu banka oranı başvuru</a:t>
            </a:r>
          </a:p>
          <a:p>
            <a:r>
              <a:t>ekranında veriyor, biz uydurmak yerine “Belirtilmemiş” diyoruz.</a:t>
            </a:r>
          </a:p>
          <a:p>
            <a:r>
              <a:t>Kapsam dengesiz, ölçtük ve rapor ettik.</a:t>
            </a:r>
          </a:p>
          <a:p>
            <a:r>
              <a:t>**Sakladığımız an, sakladığımız şeyin dışındaki her sayı da şüpheli hâle gelir.**</a:t>
            </a:r>
          </a:p>
          <a:p/>
          <a:p>
            <a:r>
              <a:t>Kapanış:</a:t>
            </a:r>
          </a:p>
          <a:p/>
          <a:p>
            <a:r>
              <a:t>Kaynağı olmayan sayı üretmeyen bir sistem. Kod, veri seti, ölçüm betikleri ve</a:t>
            </a:r>
          </a:p>
          <a:p>
            <a:r>
              <a:t>her kararın gerekçesi depoda, açık kaynak.</a:t>
            </a:r>
          </a:p>
          <a:p/>
          <a:p>
            <a:r>
              <a:t>---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kaynak-pdf-sha256=73b6313294e580c3fb718fc7d44f99b493c77886448c0003b4dce0f362c7fc8d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